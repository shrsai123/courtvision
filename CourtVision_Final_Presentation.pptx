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l">
              <a:defRPr lang="en-US" sz="1200" b="0" i="0" u="none" strike="noStrike" kern="1200" baseline="0">
                <a:solidFill>
                  <a:srgbClr val="9BA7C7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9BA7C7"/>
                </a:solidFill>
                <a:latin typeface="Calibri" panose="020F0502020204030204"/>
              </a:rPr>
              <a:t>Exact Match (%)</a:t>
            </a:r>
            <a:endParaRPr sz="1200" b="0" i="0" u="none" strike="noStrike">
              <a:solidFill>
                <a:srgbClr val="9BA7C7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4C8DF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Motion + YOLO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Motion + YOLO + CLIP</c:v>
                </c:pt>
              </c:strCache>
            </c:strRef>
          </c:tx>
          <c:spPr>
            <a:solidFill>
              <a:srgbClr val="9B7BF0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21.67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 cmpd="sng" algn="ctr">
              <a:solidFill>
                <a:srgbClr val="2B366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B7799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A1020"/>
        </a:solidFill>
        <a:ln w="12700" cap="flat">
          <a:solidFill>
            <a:srgbClr val="0A1020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b44dc8e-b3e3-4c7f-9b9a-9300971fbb5d}"/>
      </c:ext>
    </c:extLst>
  </c:chart>
  <c:spPr>
    <a:solidFill>
      <a:srgbClr val="0A10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algn="l">
              <a:defRPr lang="en-US" sz="1200" b="0" i="0" u="none" strike="noStrike" kern="1200" baseline="0">
                <a:solidFill>
                  <a:srgbClr val="9BA7C7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9BA7C7"/>
                </a:solidFill>
                <a:latin typeface="Calibri" panose="020F0502020204030204"/>
              </a:rPr>
              <a:t>Mean Token F1</a:t>
            </a:r>
            <a:endParaRPr sz="1200" b="0" i="0" u="none" strike="noStrike">
              <a:solidFill>
                <a:srgbClr val="9BA7C7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4C8DF6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0.3961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Motion + YOLO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0.3929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Motion + YOLO + CLIP</c:v>
                </c:pt>
              </c:strCache>
            </c:strRef>
          </c:tx>
          <c:spPr>
            <a:solidFill>
              <a:srgbClr val="9B7BF0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F2F5F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 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0.3641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 cmpd="sng" algn="ctr">
              <a:solidFill>
                <a:srgbClr val="2B366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B7799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A1020"/>
        </a:solidFill>
        <a:ln w="12700" cap="flat">
          <a:solidFill>
            <a:srgbClr val="0A1020"/>
          </a:solidFill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5063664-679f-4c6b-a4a4-035f53240a66}"/>
      </c:ext>
    </c:extLst>
  </c:chart>
  <c:spPr>
    <a:solidFill>
      <a:srgbClr val="0A102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786384"/>
            <a:ext cx="91440" cy="91440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4" name="Text 1"/>
          <p:cNvSpPr/>
          <p:nvPr/>
        </p:nvSpPr>
        <p:spPr>
          <a:xfrm>
            <a:off x="768096" y="658368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5330  ·  COMPUTER VISION FINAL PROJECT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CourtVision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66928" y="26060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6D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Evaluating vision-guided frame selection for basketball VideoQA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703320"/>
            <a:ext cx="8686800" cy="1627632"/>
          </a:xfrm>
          <a:prstGeom prst="roundRect">
            <a:avLst>
              <a:gd name="adj" fmla="val 4494"/>
            </a:avLst>
          </a:prstGeom>
          <a:solidFill>
            <a:srgbClr val="0D1428">
              <a:alpha val="82000"/>
            </a:srgbClr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931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FINDING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4279392"/>
            <a:ext cx="7955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More visually “smart” frame selection did not automatically beat uniform temporal coverage.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58064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D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Shreyas Sai Raman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1081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frame selection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basketball clip may contain hundreds of frames, but the VLM receives only a small visual budget.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96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2.1%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23160" y="214884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 374-frame clip is all the model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actually gets to look 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852160" cy="0"/>
          </a:xfrm>
          <a:prstGeom prst="line">
            <a:avLst/>
          </a:prstGeom>
          <a:noFill/>
          <a:ln w="12700">
            <a:solidFill>
              <a:srgbClr val="2B3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101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39312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computer-vision-guided keyframe selection provide better evidence than uniform temporal sampling?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task is not just finding a good-looking frame; it is preserving enough temporal evidence to answer the question.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1188720"/>
            <a:ext cx="3291840" cy="841248"/>
          </a:xfrm>
          <a:prstGeom prst="roundRect">
            <a:avLst>
              <a:gd name="adj" fmla="val 869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30759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video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5240" y="160934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374 frames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81160" y="2093976"/>
            <a:ext cx="0" cy="384048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2468880"/>
            <a:ext cx="3291840" cy="841248"/>
          </a:xfrm>
          <a:prstGeom prst="roundRect">
            <a:avLst>
              <a:gd name="adj" fmla="val 8696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58775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2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selector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35240" y="288950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2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variable under study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3374136"/>
            <a:ext cx="0" cy="384048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3749040"/>
            <a:ext cx="3291840" cy="841248"/>
          </a:xfrm>
          <a:prstGeom prst="roundRect">
            <a:avLst>
              <a:gd name="adj" fmla="val 8696"/>
            </a:avLst>
          </a:prstGeom>
          <a:solidFill>
            <a:srgbClr val="151D38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386791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frames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416966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visual budget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81160" y="4654296"/>
            <a:ext cx="0" cy="384048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5029200"/>
            <a:ext cx="3291840" cy="841248"/>
          </a:xfrm>
          <a:prstGeom prst="roundRect">
            <a:avLst>
              <a:gd name="adj" fmla="val 869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514807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Qwen3-VL answer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544982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decoder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Controlled experimental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+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920240" y="11704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Sports-QA basketball QA pairs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572768"/>
            <a:ext cx="3360420" cy="237744"/>
          </a:xfrm>
          <a:prstGeom prst="rect">
            <a:avLst/>
          </a:prstGeom>
          <a:solidFill>
            <a:srgbClr val="4C8DF6"/>
          </a:solidFill>
        </p:spPr>
      </p:sp>
      <p:sp>
        <p:nvSpPr>
          <p:cNvPr id="7" name="Shape 5"/>
          <p:cNvSpPr/>
          <p:nvPr/>
        </p:nvSpPr>
        <p:spPr>
          <a:xfrm>
            <a:off x="5280660" y="1572768"/>
            <a:ext cx="754380" cy="237744"/>
          </a:xfrm>
          <a:prstGeom prst="rect">
            <a:avLst/>
          </a:prstGeom>
          <a:solidFill>
            <a:srgbClr val="E8963C"/>
          </a:solidFill>
        </p:spPr>
      </p:sp>
      <p:sp>
        <p:nvSpPr>
          <p:cNvPr id="8" name="Text 6"/>
          <p:cNvSpPr/>
          <p:nvPr/>
        </p:nvSpPr>
        <p:spPr>
          <a:xfrm>
            <a:off x="1920240" y="1847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 descriptive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2020" y="1847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causal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143000"/>
            <a:ext cx="0" cy="1051560"/>
          </a:xfrm>
          <a:prstGeom prst="line">
            <a:avLst/>
          </a:prstGeom>
          <a:noFill/>
          <a:ln w="12700">
            <a:solidFill>
              <a:srgbClr val="2B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09728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001000" y="1170432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frames per method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 budget across all three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1091672" cy="0"/>
          </a:xfrm>
          <a:prstGeom prst="line">
            <a:avLst/>
          </a:prstGeom>
          <a:noFill/>
          <a:ln w="12700">
            <a:solidFill>
              <a:srgbClr val="2B3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inference conditions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3337560"/>
            <a:ext cx="82296" cy="82296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6" name="Text 14"/>
          <p:cNvSpPr/>
          <p:nvPr/>
        </p:nvSpPr>
        <p:spPr>
          <a:xfrm>
            <a:off x="804672" y="32186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21868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Qwen3-VL-8B-Instruct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" y="3840480"/>
            <a:ext cx="82296" cy="82296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9" name="Text 17"/>
          <p:cNvSpPr/>
          <p:nvPr/>
        </p:nvSpPr>
        <p:spPr>
          <a:xfrm>
            <a:off x="804672" y="37216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72160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448 × 252 per frame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" y="4343400"/>
            <a:ext cx="82296" cy="82296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2" name="Text 20"/>
          <p:cNvSpPr/>
          <p:nvPr/>
        </p:nvSpPr>
        <p:spPr>
          <a:xfrm>
            <a:off x="804672" y="422452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2245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max_new_tokens = 16, deterministic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" y="4846320"/>
            <a:ext cx="82296" cy="82296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5" name="Text 23"/>
          <p:cNvSpPr/>
          <p:nvPr/>
        </p:nvSpPr>
        <p:spPr>
          <a:xfrm>
            <a:off x="804672" y="472744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72744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 across all methods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" y="5349240"/>
            <a:ext cx="82296" cy="82296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8" name="Text 26"/>
          <p:cNvSpPr/>
          <p:nvPr/>
        </p:nvSpPr>
        <p:spPr>
          <a:xfrm>
            <a:off x="804672" y="523036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set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523036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60 QA IDs for all methods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2743200"/>
            <a:ext cx="4919472" cy="1572768"/>
          </a:xfrm>
          <a:prstGeom prst="roundRect">
            <a:avLst>
              <a:gd name="adj" fmla="val 4651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9260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329184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frame-selection strategy changes. This isolates whether the visual evidence selection improves the frozen VLM output.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4553712"/>
            <a:ext cx="4919472" cy="1371600"/>
          </a:xfrm>
          <a:prstGeom prst="roundRect">
            <a:avLst>
              <a:gd name="adj" fmla="val 5333"/>
            </a:avLst>
          </a:prstGeom>
          <a:solidFill>
            <a:srgbClr val="E8963C">
              <a:alpha val="10000"/>
            </a:srgbClr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718304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caveat  —  not held-out benchmark accuracy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5047488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subset was drawn from the Sports-QA training split, so I report it as a fixed evaluation subset.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frame-selection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529584" cy="2514600"/>
          </a:xfrm>
          <a:prstGeom prst="roundRect">
            <a:avLst>
              <a:gd name="adj" fmla="val 2909"/>
            </a:avLst>
          </a:prstGeom>
          <a:solidFill>
            <a:srgbClr val="151D38"/>
          </a:solidFill>
          <a:ln w="12700">
            <a:solidFill>
              <a:srgbClr val="4C8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6" name="Text 4"/>
          <p:cNvSpPr/>
          <p:nvPr/>
        </p:nvSpPr>
        <p:spPr>
          <a:xfrm>
            <a:off x="1060704" y="1325880"/>
            <a:ext cx="2752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2980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Evenly spaced across the whole video.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scoring — Fixed Interval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selected frames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13432" y="4160520"/>
            <a:ext cx="0" cy="548640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43984" y="1143000"/>
            <a:ext cx="3529584" cy="2514600"/>
          </a:xfrm>
          <a:prstGeom prst="roundRect">
            <a:avLst>
              <a:gd name="adj" fmla="val 2909"/>
            </a:avLst>
          </a:prstGeom>
          <a:solidFill>
            <a:srgbClr val="151D38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18304" y="1444752"/>
            <a:ext cx="128016" cy="128016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14" name="Text 12"/>
          <p:cNvSpPr/>
          <p:nvPr/>
        </p:nvSpPr>
        <p:spPr>
          <a:xfrm>
            <a:off x="4956048" y="1325880"/>
            <a:ext cx="2752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BF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18304" y="1810512"/>
            <a:ext cx="2980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frames by movement and basketball content.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18304" y="25786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283464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0.57 M  +  0.29 P  +  0.14 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43984" y="3767328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selected frames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08776" y="4160520"/>
            <a:ext cx="0" cy="548640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39328" y="1143000"/>
            <a:ext cx="3529584" cy="2514600"/>
          </a:xfrm>
          <a:prstGeom prst="roundRect">
            <a:avLst>
              <a:gd name="adj" fmla="val 2909"/>
            </a:avLst>
          </a:prstGeom>
          <a:solidFill>
            <a:srgbClr val="151D38"/>
          </a:solidFill>
          <a:ln w="12700">
            <a:solidFill>
              <a:srgbClr val="9B7B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13648" y="1444752"/>
            <a:ext cx="128016" cy="128016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22" name="Text 20"/>
          <p:cNvSpPr/>
          <p:nvPr/>
        </p:nvSpPr>
        <p:spPr>
          <a:xfrm>
            <a:off x="8851392" y="1325880"/>
            <a:ext cx="2752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B7B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+ CLIP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13648" y="1810512"/>
            <a:ext cx="2980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question relevance, so frames vary per question.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13648" y="25786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 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 M  +  0.20 P  +  0.10 B  +  0.30 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39328" y="3767328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selected frames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04120" y="4160520"/>
            <a:ext cx="0" cy="548640"/>
          </a:xfrm>
          <a:prstGeom prst="line">
            <a:avLst/>
          </a:prstGeom>
          <a:noFill/>
          <a:ln w="15875">
            <a:solidFill>
              <a:srgbClr val="6B779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539496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= frame-to-frame motion   ·   P = detected players   ·   B = detected ball   ·   C = CLIP question relevance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C2544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54880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Qwen3-VL-8B-Instruct</a:t>
            </a:r>
            <a:r>
              <a:rPr lang="en-US" sz="12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same model  ·  same prompt  ·  same resolution  ·  same 8-frame budget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Uniform remains competitive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performance on 60 Sports-QA basketball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118872" cy="118872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6" name="Text 4"/>
          <p:cNvSpPr/>
          <p:nvPr/>
        </p:nvSpPr>
        <p:spPr>
          <a:xfrm>
            <a:off x="768096" y="1280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98648" y="1389888"/>
            <a:ext cx="118872" cy="118872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8" name="Text 6"/>
          <p:cNvSpPr/>
          <p:nvPr/>
        </p:nvSpPr>
        <p:spPr>
          <a:xfrm>
            <a:off x="3099816" y="1280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30368" y="1389888"/>
            <a:ext cx="118872" cy="118872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10" name="Text 8"/>
          <p:cNvSpPr/>
          <p:nvPr/>
        </p:nvSpPr>
        <p:spPr>
          <a:xfrm>
            <a:off x="5431536" y="1280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+ CLIP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783080"/>
          <a:ext cx="3977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4343400" y="1783080"/>
          <a:ext cx="3977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8549640" y="1188720"/>
            <a:ext cx="3090672" cy="4370832"/>
          </a:xfrm>
          <a:prstGeom prst="roundRect">
            <a:avLst>
              <a:gd name="adj" fmla="val 2367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23960" y="137160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Paired outcomes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823960" y="17007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McNemar test on discordant pairs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823960" y="2203704"/>
            <a:ext cx="109728" cy="109728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17" name="Text 13"/>
          <p:cNvSpPr/>
          <p:nvPr/>
        </p:nvSpPr>
        <p:spPr>
          <a:xfrm>
            <a:off x="9025128" y="21214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FBF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 vs  Uniform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823960" y="2596896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253728" y="259689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MY correct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823960" y="2980944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253728" y="298094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Uniform correct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82396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= 1.000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823960" y="3602736"/>
            <a:ext cx="2542032" cy="0"/>
          </a:xfrm>
          <a:prstGeom prst="line">
            <a:avLst/>
          </a:prstGeom>
          <a:noFill/>
          <a:ln w="12700">
            <a:solidFill>
              <a:srgbClr val="2B366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823960" y="3941064"/>
            <a:ext cx="109728" cy="109728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25" name="Text 21"/>
          <p:cNvSpPr/>
          <p:nvPr/>
        </p:nvSpPr>
        <p:spPr>
          <a:xfrm>
            <a:off x="9025128" y="38587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B7B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+ CLIP  vs  Uniform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823960" y="4334256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9253728" y="4334256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MYC correct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823960" y="4718304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253728" y="471830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Uniform correct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823960" y="51023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= 0.625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" y="512064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8963C">
              <a:alpha val="10000"/>
            </a:srgbClr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2960" y="5120640"/>
            <a:ext cx="7223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significant paired difference. Motion + YOLO changed which questions were answered correctly, but not how many — and CLIP did not improve this subset.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vs focus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Representative question:  “How does the right team fail to do a 2-point shot?”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09728" cy="109728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6" name="Text 4"/>
          <p:cNvSpPr/>
          <p:nvPr/>
        </p:nvSpPr>
        <p:spPr>
          <a:xfrm>
            <a:off x="768096" y="146304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7556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 temporal coverage</a:t>
            </a:r>
            <a:endParaRPr lang="en-US" sz="1100" dirty="0"/>
          </a:p>
        </p:txBody>
      </p:sp>
      <p:pic>
        <p:nvPicPr>
          <p:cNvPr id="8" name="Image 0" descr="assets/strip_un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81455"/>
            <a:ext cx="9125585" cy="73215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2329068"/>
            <a:ext cx="9125712" cy="0"/>
          </a:xfrm>
          <a:prstGeom prst="line">
            <a:avLst/>
          </a:prstGeom>
          <a:noFill/>
          <a:ln w="15875">
            <a:solidFill>
              <a:srgbClr val="2B36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64308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1" name="Shape 8"/>
          <p:cNvSpPr/>
          <p:nvPr/>
        </p:nvSpPr>
        <p:spPr>
          <a:xfrm>
            <a:off x="3757524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2" name="Shape 9"/>
          <p:cNvSpPr/>
          <p:nvPr/>
        </p:nvSpPr>
        <p:spPr>
          <a:xfrm>
            <a:off x="5075140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3" name="Shape 10"/>
          <p:cNvSpPr/>
          <p:nvPr/>
        </p:nvSpPr>
        <p:spPr>
          <a:xfrm>
            <a:off x="6368356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4" name="Shape 11"/>
          <p:cNvSpPr/>
          <p:nvPr/>
        </p:nvSpPr>
        <p:spPr>
          <a:xfrm>
            <a:off x="7685972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5" name="Shape 12"/>
          <p:cNvSpPr/>
          <p:nvPr/>
        </p:nvSpPr>
        <p:spPr>
          <a:xfrm>
            <a:off x="8979188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6" name="Shape 13"/>
          <p:cNvSpPr/>
          <p:nvPr/>
        </p:nvSpPr>
        <p:spPr>
          <a:xfrm>
            <a:off x="10296804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7" name="Shape 14"/>
          <p:cNvSpPr/>
          <p:nvPr/>
        </p:nvSpPr>
        <p:spPr>
          <a:xfrm>
            <a:off x="11590020" y="2278776"/>
            <a:ext cx="100584" cy="100584"/>
          </a:xfrm>
          <a:prstGeom prst="ellipse">
            <a:avLst/>
          </a:prstGeom>
          <a:solidFill>
            <a:srgbClr val="4C8DF6"/>
          </a:solidFill>
        </p:spPr>
      </p:sp>
      <p:sp>
        <p:nvSpPr>
          <p:cNvPr id="18" name="Shape 15"/>
          <p:cNvSpPr/>
          <p:nvPr/>
        </p:nvSpPr>
        <p:spPr>
          <a:xfrm>
            <a:off x="566928" y="2944368"/>
            <a:ext cx="109728" cy="109728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19" name="Text 16"/>
          <p:cNvSpPr/>
          <p:nvPr/>
        </p:nvSpPr>
        <p:spPr>
          <a:xfrm>
            <a:off x="768096" y="283464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BF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31272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Visually active moments</a:t>
            </a:r>
            <a:endParaRPr lang="en-US" sz="1100" dirty="0"/>
          </a:p>
        </p:txBody>
      </p:sp>
      <p:pic>
        <p:nvPicPr>
          <p:cNvPr id="21" name="Image 1" descr="assets/strip_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53055"/>
            <a:ext cx="9125585" cy="7219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514600" y="3700668"/>
            <a:ext cx="9125712" cy="0"/>
          </a:xfrm>
          <a:prstGeom prst="line">
            <a:avLst/>
          </a:prstGeom>
          <a:noFill/>
          <a:ln w="15875">
            <a:solidFill>
              <a:srgbClr val="2B366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36347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4" name="Shape 20"/>
          <p:cNvSpPr/>
          <p:nvPr/>
        </p:nvSpPr>
        <p:spPr>
          <a:xfrm>
            <a:off x="6002351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5" name="Shape 21"/>
          <p:cNvSpPr/>
          <p:nvPr/>
        </p:nvSpPr>
        <p:spPr>
          <a:xfrm>
            <a:off x="6612359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6" name="Shape 22"/>
          <p:cNvSpPr/>
          <p:nvPr/>
        </p:nvSpPr>
        <p:spPr>
          <a:xfrm>
            <a:off x="6978363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7" name="Shape 23"/>
          <p:cNvSpPr/>
          <p:nvPr/>
        </p:nvSpPr>
        <p:spPr>
          <a:xfrm>
            <a:off x="7344368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8" name="Shape 24"/>
          <p:cNvSpPr/>
          <p:nvPr/>
        </p:nvSpPr>
        <p:spPr>
          <a:xfrm>
            <a:off x="8320380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29" name="Shape 25"/>
          <p:cNvSpPr/>
          <p:nvPr/>
        </p:nvSpPr>
        <p:spPr>
          <a:xfrm>
            <a:off x="8930387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30" name="Shape 26"/>
          <p:cNvSpPr/>
          <p:nvPr/>
        </p:nvSpPr>
        <p:spPr>
          <a:xfrm>
            <a:off x="11492419" y="3650376"/>
            <a:ext cx="100584" cy="100584"/>
          </a:xfrm>
          <a:prstGeom prst="ellipse">
            <a:avLst/>
          </a:prstGeom>
          <a:solidFill>
            <a:srgbClr val="2FBF8F"/>
          </a:solidFill>
        </p:spPr>
      </p:sp>
      <p:sp>
        <p:nvSpPr>
          <p:cNvPr id="31" name="Shape 27"/>
          <p:cNvSpPr/>
          <p:nvPr/>
        </p:nvSpPr>
        <p:spPr>
          <a:xfrm>
            <a:off x="566928" y="4315968"/>
            <a:ext cx="109728" cy="109728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32" name="Text 28"/>
          <p:cNvSpPr/>
          <p:nvPr/>
        </p:nvSpPr>
        <p:spPr>
          <a:xfrm>
            <a:off x="768096" y="420624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B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+ CLIP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68096" y="44988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Question-relevant-looking frames</a:t>
            </a:r>
            <a:endParaRPr lang="en-US" sz="1100" dirty="0"/>
          </a:p>
        </p:txBody>
      </p:sp>
      <p:pic>
        <p:nvPicPr>
          <p:cNvPr id="34" name="Image 2" descr="assets/strip_my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224655"/>
            <a:ext cx="9125585" cy="732155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514600" y="5072268"/>
            <a:ext cx="9125712" cy="0"/>
          </a:xfrm>
          <a:prstGeom prst="line">
            <a:avLst/>
          </a:prstGeom>
          <a:noFill/>
          <a:ln w="15875">
            <a:solidFill>
              <a:srgbClr val="2B366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026339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37" name="Shape 32"/>
          <p:cNvSpPr/>
          <p:nvPr/>
        </p:nvSpPr>
        <p:spPr>
          <a:xfrm>
            <a:off x="5392344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38" name="Shape 33"/>
          <p:cNvSpPr/>
          <p:nvPr/>
        </p:nvSpPr>
        <p:spPr>
          <a:xfrm>
            <a:off x="6002351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39" name="Shape 34"/>
          <p:cNvSpPr/>
          <p:nvPr/>
        </p:nvSpPr>
        <p:spPr>
          <a:xfrm>
            <a:off x="6856362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40" name="Shape 35"/>
          <p:cNvSpPr/>
          <p:nvPr/>
        </p:nvSpPr>
        <p:spPr>
          <a:xfrm>
            <a:off x="7344368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41" name="Shape 36"/>
          <p:cNvSpPr/>
          <p:nvPr/>
        </p:nvSpPr>
        <p:spPr>
          <a:xfrm>
            <a:off x="8320380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42" name="Shape 37"/>
          <p:cNvSpPr/>
          <p:nvPr/>
        </p:nvSpPr>
        <p:spPr>
          <a:xfrm>
            <a:off x="8930387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43" name="Shape 38"/>
          <p:cNvSpPr/>
          <p:nvPr/>
        </p:nvSpPr>
        <p:spPr>
          <a:xfrm>
            <a:off x="11248416" y="5021976"/>
            <a:ext cx="100584" cy="100584"/>
          </a:xfrm>
          <a:prstGeom prst="ellipse">
            <a:avLst/>
          </a:prstGeom>
          <a:solidFill>
            <a:srgbClr val="9B7BF0"/>
          </a:solidFill>
        </p:spPr>
      </p:sp>
      <p:sp>
        <p:nvSpPr>
          <p:cNvPr id="44" name="Text 39"/>
          <p:cNvSpPr/>
          <p:nvPr/>
        </p:nvSpPr>
        <p:spPr>
          <a:xfrm>
            <a:off x="2148840" y="539496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0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0908792" y="539496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374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2514600" y="5394960"/>
            <a:ext cx="912571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each method spent its 8-frame budget in time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E8963C">
              <a:alpha val="10000"/>
            </a:srgbClr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interpretation:  A relevant-looking frame is not always sufficient temporal evidence.</a:t>
            </a:r>
            <a:endParaRPr lang="en-US" sz="1350" dirty="0"/>
          </a:p>
        </p:txBody>
      </p:sp>
      <p:sp>
        <p:nvSpPr>
          <p:cNvPr id="49" name="Text 44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Basketball analytics extension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VideoQA, the same CV pipeline can produce interpretable basketball analytics.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 players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detection with persistent track IDs</a:t>
            </a:r>
            <a:endParaRPr lang="en-US" sz="1200" dirty="0"/>
          </a:p>
        </p:txBody>
      </p:sp>
      <p:pic>
        <p:nvPicPr>
          <p:cNvPr id="7" name="Image 0" descr="assets/track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76272"/>
            <a:ext cx="5257800" cy="25710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82512" y="151790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Occupancy heatmap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82512" y="18288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Accumulated player positions over the clip</a:t>
            </a:r>
            <a:endParaRPr lang="en-US" sz="1200" dirty="0"/>
          </a:p>
        </p:txBody>
      </p:sp>
      <p:pic>
        <p:nvPicPr>
          <p:cNvPr id="10" name="Image 1" descr="assets/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176272"/>
            <a:ext cx="5257800" cy="25710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506736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5378259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5378259"/>
            <a:ext cx="18105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track IDs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05456" y="5378259"/>
            <a:ext cx="1730045" cy="402336"/>
          </a:xfrm>
          <a:prstGeom prst="roundRect">
            <a:avLst>
              <a:gd name="adj" fmla="val 1363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05456" y="5378259"/>
            <a:ext cx="173004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 trajectories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81805" y="5378259"/>
            <a:ext cx="1730045" cy="402336"/>
          </a:xfrm>
          <a:prstGeom prst="roundRect">
            <a:avLst>
              <a:gd name="adj" fmla="val 1363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1805" y="5378259"/>
            <a:ext cx="173004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Pixel-based spacing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58154" y="5378259"/>
            <a:ext cx="1649578" cy="402336"/>
          </a:xfrm>
          <a:prstGeom prst="roundRect">
            <a:avLst>
              <a:gd name="adj" fmla="val 1363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58154" y="5378259"/>
            <a:ext cx="164957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Occupancy heatmaps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54035" y="5378259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54035" y="5378259"/>
            <a:ext cx="18105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Gradio analytics tab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5936043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limitation:  </a:t>
            </a: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are pixel-space analytics, not calibrated court meters.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Takeaways and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052560" y="347472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4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8D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517904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Uniform sampling remained a surprisingly strong baseline because it preserved temporal coverage.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BF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596896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+ YOLO changed which examples were answered correctly, but did not improve aggregate accuracy.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75888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7B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3675888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 selected question-relevant-looking frames, but static relevance did not guarantee answerability.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005840"/>
            <a:ext cx="4873752" cy="3310128"/>
          </a:xfrm>
          <a:prstGeom prst="roundRect">
            <a:avLst>
              <a:gd name="adj" fmla="val 2210"/>
            </a:avLst>
          </a:prstGeom>
          <a:solidFill>
            <a:srgbClr val="151D38"/>
          </a:solidFill>
          <a:ln w="12700">
            <a:solidFill>
              <a:srgbClr val="2B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234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14032" y="1892808"/>
            <a:ext cx="100584" cy="100584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4" name="Text 12"/>
          <p:cNvSpPr/>
          <p:nvPr/>
        </p:nvSpPr>
        <p:spPr>
          <a:xfrm>
            <a:off x="7342632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temporal windows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42632" y="207568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isolated frames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2715768"/>
            <a:ext cx="100584" cy="100584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17" name="Text 15"/>
          <p:cNvSpPr/>
          <p:nvPr/>
        </p:nvSpPr>
        <p:spPr>
          <a:xfrm>
            <a:off x="7342632" y="260604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a larger held-out 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42632" y="289864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Sports-QA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14032" y="3538728"/>
            <a:ext cx="100584" cy="100584"/>
          </a:xfrm>
          <a:prstGeom prst="ellipse">
            <a:avLst/>
          </a:prstGeom>
          <a:solidFill>
            <a:srgbClr val="E8963C"/>
          </a:solidFill>
        </p:spPr>
      </p:sp>
      <p:sp>
        <p:nvSpPr>
          <p:cNvPr id="20" name="Text 18"/>
          <p:cNvSpPr/>
          <p:nvPr/>
        </p:nvSpPr>
        <p:spPr>
          <a:xfrm>
            <a:off x="7342632" y="342900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court calibration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42632" y="372160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team / player identity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90288"/>
            <a:ext cx="11091672" cy="1115568"/>
          </a:xfrm>
          <a:prstGeom prst="roundRect">
            <a:avLst>
              <a:gd name="adj" fmla="val 6557"/>
            </a:avLst>
          </a:prstGeom>
          <a:solidFill>
            <a:srgbClr val="E8963C">
              <a:alpha val="12000"/>
            </a:srgbClr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73659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E896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CONCLUSION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4992624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2F5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 basketball VideoQA, preserving temporal context can be as important as selecting visually or semantically relevant individual frames.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references:  Sports-QA (IJCV 2026)  ·  NExT-QA (CVPR 2021)  ·  Q-Frame (ICCV 2025)  ·  M-LLM frame selection (CVPR 2025)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6309360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B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 —  questions welcome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45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5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CourtVision  ·  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4253</Words>
  <Application>WPS Presentation</Application>
  <PresentationFormat>On-screen Show (16:9)</PresentationFormat>
  <Paragraphs>280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Shreyas Raman</cp:lastModifiedBy>
  <cp:revision>3</cp:revision>
  <dcterms:created xsi:type="dcterms:W3CDTF">2026-08-12T17:58:00Z</dcterms:created>
  <dcterms:modified xsi:type="dcterms:W3CDTF">2026-08-12T18:27:05Z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41409A85FACA41B4B9392AD1597F10E2_12</vt:lpwstr>
  </property>
</Properties>
</file>